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23378910a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23378910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23356c5ed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23356c5ed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23356c5ed_3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23356c5ed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23356c5ed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23356c5ed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23356c5ed_3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23356c5ed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23356c5ed_3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23356c5ed_3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23356c5ed_3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23356c5ed_3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23356c5ed_3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23356c5ed_3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23356c5ed_3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23356c5ed_3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23356c5ed_3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23356c5ed_3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23356c5ed_3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23356c5ed_3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23356c5ed_3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23356c5ed_3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23356c5ed_3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23356c5ed_3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23356c5ed_3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23356c5ed_3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jp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jpg"/><Relationship Id="rId4" Type="http://schemas.openxmlformats.org/officeDocument/2006/relationships/image" Target="../media/image13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jp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jp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jp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jp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jp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jpg"/><Relationship Id="rId4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jp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jp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jpg"/><Relationship Id="rId4" Type="http://schemas.openxmlformats.org/officeDocument/2006/relationships/image" Target="../media/image19.png"/><Relationship Id="rId5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jpg"/><Relationship Id="rId4" Type="http://schemas.openxmlformats.org/officeDocument/2006/relationships/image" Target="../media/image23.png"/><Relationship Id="rId5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jpg"/><Relationship Id="rId4" Type="http://schemas.openxmlformats.org/officeDocument/2006/relationships/image" Target="../media/image25.png"/><Relationship Id="rId5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jp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13900" y="453450"/>
            <a:ext cx="4358100" cy="42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6075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FFD966"/>
              </a:buClr>
              <a:buSzPts val="1850"/>
              <a:buAutoNum type="arabicPeriod"/>
            </a:pPr>
            <a:r>
              <a:rPr lang="pl" sz="1850">
                <a:solidFill>
                  <a:srgbClr val="FFD966"/>
                </a:solidFill>
              </a:rPr>
              <a:t>Addition           </a:t>
            </a:r>
            <a:endParaRPr sz="1850">
              <a:solidFill>
                <a:srgbClr val="FFD966"/>
              </a:solidFill>
            </a:endParaRPr>
          </a:p>
          <a:p>
            <a:pPr indent="-3460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850"/>
              <a:buAutoNum type="arabicPeriod"/>
            </a:pPr>
            <a:r>
              <a:rPr lang="pl" sz="1850">
                <a:solidFill>
                  <a:srgbClr val="FFD966"/>
                </a:solidFill>
              </a:rPr>
              <a:t>Subtraction</a:t>
            </a:r>
            <a:r>
              <a:rPr lang="pl" sz="1850">
                <a:solidFill>
                  <a:srgbClr val="FFD966"/>
                </a:solidFill>
              </a:rPr>
              <a:t>      </a:t>
            </a:r>
            <a:endParaRPr sz="1850">
              <a:solidFill>
                <a:srgbClr val="FFD966"/>
              </a:solidFill>
            </a:endParaRPr>
          </a:p>
          <a:p>
            <a:pPr indent="-3460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850"/>
              <a:buAutoNum type="arabicPeriod"/>
            </a:pPr>
            <a:r>
              <a:rPr lang="pl" sz="1850">
                <a:solidFill>
                  <a:srgbClr val="FFD966"/>
                </a:solidFill>
              </a:rPr>
              <a:t>Multiplication    </a:t>
            </a:r>
            <a:endParaRPr sz="1850">
              <a:solidFill>
                <a:srgbClr val="FFD966"/>
              </a:solidFill>
            </a:endParaRPr>
          </a:p>
          <a:p>
            <a:pPr indent="-3460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850"/>
              <a:buAutoNum type="arabicPeriod"/>
            </a:pPr>
            <a:r>
              <a:rPr lang="pl" sz="1850">
                <a:solidFill>
                  <a:srgbClr val="FFD966"/>
                </a:solidFill>
              </a:rPr>
              <a:t>Division           </a:t>
            </a:r>
            <a:endParaRPr sz="1850">
              <a:solidFill>
                <a:srgbClr val="FFD966"/>
              </a:solidFill>
            </a:endParaRPr>
          </a:p>
          <a:p>
            <a:pPr indent="-3460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850"/>
              <a:buAutoNum type="arabicPeriod"/>
            </a:pPr>
            <a:r>
              <a:rPr lang="pl" sz="1850">
                <a:solidFill>
                  <a:srgbClr val="FFD966"/>
                </a:solidFill>
              </a:rPr>
              <a:t>Exponentiation </a:t>
            </a:r>
            <a:endParaRPr sz="1850">
              <a:solidFill>
                <a:srgbClr val="FFD966"/>
              </a:solidFill>
            </a:endParaRPr>
          </a:p>
          <a:p>
            <a:pPr indent="-3460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850"/>
              <a:buAutoNum type="arabicPeriod"/>
            </a:pPr>
            <a:r>
              <a:rPr lang="pl" sz="1850">
                <a:solidFill>
                  <a:srgbClr val="FFD966"/>
                </a:solidFill>
              </a:rPr>
              <a:t>Root </a:t>
            </a:r>
            <a:endParaRPr sz="1850">
              <a:solidFill>
                <a:srgbClr val="FFD966"/>
              </a:solidFill>
            </a:endParaRPr>
          </a:p>
          <a:p>
            <a:pPr indent="-3460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850"/>
              <a:buAutoNum type="arabicPeriod"/>
            </a:pPr>
            <a:r>
              <a:rPr lang="pl" sz="1850">
                <a:solidFill>
                  <a:srgbClr val="FFD966"/>
                </a:solidFill>
              </a:rPr>
              <a:t>Pi constant </a:t>
            </a:r>
            <a:endParaRPr sz="1850">
              <a:solidFill>
                <a:srgbClr val="FFD966"/>
              </a:solidFill>
            </a:endParaRPr>
          </a:p>
          <a:p>
            <a:pPr indent="-3460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850"/>
              <a:buAutoNum type="arabicPeriod"/>
            </a:pPr>
            <a:r>
              <a:rPr lang="pl" sz="1850">
                <a:solidFill>
                  <a:srgbClr val="FFD966"/>
                </a:solidFill>
              </a:rPr>
              <a:t>Euler's number </a:t>
            </a:r>
            <a:endParaRPr sz="1850">
              <a:solidFill>
                <a:srgbClr val="FFD966"/>
              </a:solidFill>
            </a:endParaRPr>
          </a:p>
          <a:p>
            <a:pPr indent="-3460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850"/>
              <a:buAutoNum type="arabicPeriod"/>
            </a:pPr>
            <a:r>
              <a:rPr lang="pl" sz="1850">
                <a:solidFill>
                  <a:srgbClr val="FFD966"/>
                </a:solidFill>
              </a:rPr>
              <a:t>Sine </a:t>
            </a:r>
            <a:endParaRPr sz="1850">
              <a:solidFill>
                <a:srgbClr val="FFD966"/>
              </a:solidFill>
            </a:endParaRPr>
          </a:p>
          <a:p>
            <a:pPr indent="-3460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850"/>
              <a:buAutoNum type="arabicPeriod"/>
            </a:pPr>
            <a:r>
              <a:rPr lang="pl" sz="1850">
                <a:solidFill>
                  <a:srgbClr val="FFD966"/>
                </a:solidFill>
              </a:rPr>
              <a:t>Cosine </a:t>
            </a:r>
            <a:endParaRPr sz="1850">
              <a:solidFill>
                <a:srgbClr val="FFD966"/>
              </a:solidFill>
            </a:endParaRPr>
          </a:p>
          <a:p>
            <a:pPr indent="-3460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850"/>
              <a:buAutoNum type="arabicPeriod"/>
            </a:pPr>
            <a:r>
              <a:rPr lang="pl" sz="1850">
                <a:solidFill>
                  <a:srgbClr val="FFD966"/>
                </a:solidFill>
              </a:rPr>
              <a:t>Tangent </a:t>
            </a:r>
            <a:endParaRPr sz="1850">
              <a:solidFill>
                <a:srgbClr val="FFD966"/>
              </a:solidFill>
            </a:endParaRPr>
          </a:p>
          <a:p>
            <a:pPr indent="-3460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966"/>
              </a:buClr>
              <a:buSzPts val="1850"/>
              <a:buAutoNum type="arabicPeriod"/>
            </a:pPr>
            <a:r>
              <a:rPr lang="pl" sz="1850">
                <a:solidFill>
                  <a:srgbClr val="FFD966"/>
                </a:solidFill>
              </a:rPr>
              <a:t>Cotangent </a:t>
            </a:r>
            <a:endParaRPr sz="1850">
              <a:solidFill>
                <a:srgbClr val="FFD966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014400" y="198875"/>
            <a:ext cx="31140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200">
                <a:solidFill>
                  <a:srgbClr val="FFFFFF"/>
                </a:solidFill>
              </a:rPr>
              <a:t>FUNCTIONALITY</a:t>
            </a:r>
            <a:endParaRPr b="1" sz="2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5161350" y="174525"/>
            <a:ext cx="3777600" cy="7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200">
                <a:solidFill>
                  <a:srgbClr val="FFFFFF"/>
                </a:solidFill>
              </a:rPr>
              <a:t>Console </a:t>
            </a:r>
            <a:endParaRPr b="1" sz="2200">
              <a:solidFill>
                <a:srgbClr val="FFFFFF"/>
              </a:solidFill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3251" y="1176999"/>
            <a:ext cx="4213098" cy="244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0800" y="1152475"/>
            <a:ext cx="4219250" cy="245332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4973600" y="192025"/>
            <a:ext cx="2373600" cy="7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200">
                <a:solidFill>
                  <a:srgbClr val="FFFFFF"/>
                </a:solidFill>
              </a:rPr>
              <a:t>ADDITION</a:t>
            </a:r>
            <a:endParaRPr b="1" sz="2200">
              <a:solidFill>
                <a:srgbClr val="FFFFFF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125" y="3863850"/>
            <a:ext cx="3864475" cy="31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7570" y="1152475"/>
            <a:ext cx="4209129" cy="24474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4271550" y="202350"/>
            <a:ext cx="29193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200">
                <a:solidFill>
                  <a:srgbClr val="FFFFFF"/>
                </a:solidFill>
              </a:rPr>
              <a:t>SUBTRACTION</a:t>
            </a:r>
            <a:endParaRPr b="1" sz="2200">
              <a:solidFill>
                <a:srgbClr val="FFFFFF"/>
              </a:solidFill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7575" y="3878013"/>
            <a:ext cx="4209126" cy="303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6900" y="1152475"/>
            <a:ext cx="4236426" cy="24633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937950" y="193850"/>
            <a:ext cx="27699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200">
                <a:solidFill>
                  <a:srgbClr val="FFFFFF"/>
                </a:solidFill>
              </a:rPr>
              <a:t>MULTIPLICATION</a:t>
            </a:r>
            <a:endParaRPr b="1" sz="2200">
              <a:solidFill>
                <a:srgbClr val="FFFFFF"/>
              </a:solidFill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8849" y="3889675"/>
            <a:ext cx="4192526" cy="30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6925" y="1152475"/>
            <a:ext cx="4199449" cy="244179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5050050" y="183425"/>
            <a:ext cx="29331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200">
                <a:solidFill>
                  <a:srgbClr val="FFFFFF"/>
                </a:solidFill>
              </a:rPr>
              <a:t>DIVISION</a:t>
            </a:r>
            <a:endParaRPr b="1" sz="2200">
              <a:solidFill>
                <a:srgbClr val="FFFFFF"/>
              </a:solidFill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2900" y="3638900"/>
            <a:ext cx="4743476" cy="54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3976" y="1152475"/>
            <a:ext cx="4178824" cy="242982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/>
        </p:nvSpPr>
        <p:spPr>
          <a:xfrm>
            <a:off x="3809375" y="197650"/>
            <a:ext cx="38925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200">
                <a:solidFill>
                  <a:srgbClr val="FFFFFF"/>
                </a:solidFill>
              </a:rPr>
              <a:t>EXPONENTIATION</a:t>
            </a:r>
            <a:endParaRPr b="1" sz="2200">
              <a:solidFill>
                <a:srgbClr val="FFFFFF"/>
              </a:solidFill>
            </a:endParaRPr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6400" y="3744550"/>
            <a:ext cx="4206401" cy="43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0725" y="1152475"/>
            <a:ext cx="4238601" cy="2464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0900" y="3696525"/>
            <a:ext cx="4508424" cy="4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/>
          <p:nvPr/>
        </p:nvSpPr>
        <p:spPr>
          <a:xfrm>
            <a:off x="5289325" y="188450"/>
            <a:ext cx="22104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200">
                <a:solidFill>
                  <a:srgbClr val="FFFFFF"/>
                </a:solidFill>
              </a:rPr>
              <a:t>ROOT</a:t>
            </a:r>
            <a:endParaRPr b="1" sz="2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2075" y="1152475"/>
            <a:ext cx="4204649" cy="244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1"/>
          <p:cNvSpPr txBox="1"/>
          <p:nvPr/>
        </p:nvSpPr>
        <p:spPr>
          <a:xfrm>
            <a:off x="4421025" y="186900"/>
            <a:ext cx="2982000" cy="8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200">
                <a:solidFill>
                  <a:srgbClr val="FFFFFF"/>
                </a:solidFill>
              </a:rPr>
              <a:t>PI CONSTANT</a:t>
            </a:r>
            <a:endParaRPr b="1" sz="2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9100" y="1152475"/>
            <a:ext cx="4220675" cy="2454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2"/>
          <p:cNvSpPr txBox="1"/>
          <p:nvPr/>
        </p:nvSpPr>
        <p:spPr>
          <a:xfrm>
            <a:off x="3802425" y="186900"/>
            <a:ext cx="34128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200">
                <a:solidFill>
                  <a:srgbClr val="FFFFFF"/>
                </a:solidFill>
              </a:rPr>
              <a:t>EULER’S NUMBER</a:t>
            </a:r>
            <a:endParaRPr b="1" sz="2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/>
        </p:nvSpPr>
        <p:spPr>
          <a:xfrm>
            <a:off x="5571350" y="226675"/>
            <a:ext cx="28671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200">
                <a:solidFill>
                  <a:srgbClr val="FFFFFF"/>
                </a:solidFill>
              </a:rPr>
              <a:t>SINE</a:t>
            </a:r>
            <a:endParaRPr b="1" sz="2200">
              <a:solidFill>
                <a:srgbClr val="FFFFFF"/>
              </a:solidFill>
            </a:endParaRPr>
          </a:p>
        </p:txBody>
      </p:sp>
      <p:pic>
        <p:nvPicPr>
          <p:cNvPr id="121" name="Google Shape;12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5500" y="1095975"/>
            <a:ext cx="4242851" cy="2467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5375" y="3716650"/>
            <a:ext cx="4782975" cy="46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3371" y="1152475"/>
            <a:ext cx="4139875" cy="240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4"/>
          <p:cNvSpPr txBox="1"/>
          <p:nvPr/>
        </p:nvSpPr>
        <p:spPr>
          <a:xfrm>
            <a:off x="5178625" y="214700"/>
            <a:ext cx="2585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200">
                <a:solidFill>
                  <a:srgbClr val="FFFFFF"/>
                </a:solidFill>
              </a:rPr>
              <a:t>COSINE</a:t>
            </a:r>
            <a:endParaRPr b="1" sz="2200">
              <a:solidFill>
                <a:srgbClr val="FFFFFF"/>
              </a:solidFill>
            </a:endParaRPr>
          </a:p>
        </p:txBody>
      </p:sp>
      <p:pic>
        <p:nvPicPr>
          <p:cNvPr id="129" name="Google Shape;12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9425" y="3689725"/>
            <a:ext cx="5063825" cy="49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4325" y="1129975"/>
            <a:ext cx="4302475" cy="250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7450" y="3707950"/>
            <a:ext cx="4939349" cy="48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5"/>
          <p:cNvSpPr txBox="1"/>
          <p:nvPr/>
        </p:nvSpPr>
        <p:spPr>
          <a:xfrm>
            <a:off x="4893675" y="195400"/>
            <a:ext cx="2318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200">
                <a:solidFill>
                  <a:srgbClr val="FFFFFF"/>
                </a:solidFill>
              </a:rPr>
              <a:t>TANGENT</a:t>
            </a:r>
            <a:endParaRPr b="1" sz="2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4898750" y="-173875"/>
            <a:ext cx="4079100" cy="57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400">
                <a:solidFill>
                  <a:schemeClr val="lt1"/>
                </a:solidFill>
              </a:rPr>
              <a:t>Cotangent</a:t>
            </a:r>
            <a:endParaRPr b="1" sz="2400">
              <a:solidFill>
                <a:schemeClr val="lt1"/>
              </a:solidFill>
            </a:endParaRPr>
          </a:p>
        </p:txBody>
      </p:sp>
      <p:pic>
        <p:nvPicPr>
          <p:cNvPr id="142" name="Google Shape;14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1275" y="1132075"/>
            <a:ext cx="4292051" cy="249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275" y="3766325"/>
            <a:ext cx="4742050" cy="46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7825" y="1135200"/>
            <a:ext cx="3676650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