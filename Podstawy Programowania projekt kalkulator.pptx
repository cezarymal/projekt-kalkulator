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9" d="100"/>
          <a:sy n="129" d="100"/>
        </p:scale>
        <p:origin x="144" y="27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923378910a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923378910a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923356c5ed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923356c5ed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923356c5ed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923356c5ed_3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923356c5ed_3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923356c5ed_3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923356c5ed_3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923356c5ed_3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23356c5ed_3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923356c5ed_3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923356c5ed_3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923356c5ed_3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923356c5ed_3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923356c5ed_3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923356c5ed_3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923356c5ed_3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23356c5ed_3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923356c5ed_3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923356c5ed_3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923356c5ed_3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923356c5ed_3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923356c5ed_3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923356c5ed_3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923356c5ed_3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923356c5ed_3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923356c5ed_3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b61897cc0d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b61897cc0d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: zaokrąglone rogi 1">
            <a:extLst>
              <a:ext uri="{FF2B5EF4-FFF2-40B4-BE49-F238E27FC236}">
                <a16:creationId xmlns:a16="http://schemas.microsoft.com/office/drawing/2014/main" id="{51EB6539-73BB-A3D8-FD1E-51528B3A329A}"/>
              </a:ext>
            </a:extLst>
          </p:cNvPr>
          <p:cNvSpPr/>
          <p:nvPr/>
        </p:nvSpPr>
        <p:spPr>
          <a:xfrm>
            <a:off x="96982" y="249382"/>
            <a:ext cx="2909454" cy="4578927"/>
          </a:xfrm>
          <a:prstGeom prst="round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4" name="Google Shape;54;p13"/>
          <p:cNvSpPr txBox="1"/>
          <p:nvPr/>
        </p:nvSpPr>
        <p:spPr>
          <a:xfrm>
            <a:off x="213900" y="453450"/>
            <a:ext cx="4358100" cy="423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6075" algn="l" rtl="0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  <a:buClr>
                <a:srgbClr val="FFD966"/>
              </a:buClr>
              <a:buSzPts val="1850"/>
              <a:buAutoNum type="arabicPeriod"/>
            </a:pPr>
            <a:r>
              <a:rPr lang="pl" sz="1850" dirty="0">
                <a:solidFill>
                  <a:srgbClr val="FFD966"/>
                </a:solidFill>
              </a:rPr>
              <a:t>Addition           </a:t>
            </a:r>
            <a:endParaRPr sz="1850" dirty="0">
              <a:solidFill>
                <a:srgbClr val="FFD966"/>
              </a:solidFill>
            </a:endParaRPr>
          </a:p>
          <a:p>
            <a:pPr marL="457200" lvl="0" indent="-3460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D966"/>
              </a:buClr>
              <a:buSzPts val="1850"/>
              <a:buAutoNum type="arabicPeriod"/>
            </a:pPr>
            <a:r>
              <a:rPr lang="pl" sz="1850" dirty="0">
                <a:solidFill>
                  <a:srgbClr val="FFD966"/>
                </a:solidFill>
              </a:rPr>
              <a:t>Subtraction      </a:t>
            </a:r>
            <a:endParaRPr sz="1850" dirty="0">
              <a:solidFill>
                <a:srgbClr val="FFD966"/>
              </a:solidFill>
            </a:endParaRPr>
          </a:p>
          <a:p>
            <a:pPr marL="457200" lvl="0" indent="-3460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D966"/>
              </a:buClr>
              <a:buSzPts val="1850"/>
              <a:buAutoNum type="arabicPeriod"/>
            </a:pPr>
            <a:r>
              <a:rPr lang="pl" sz="1850" dirty="0">
                <a:solidFill>
                  <a:srgbClr val="FFD966"/>
                </a:solidFill>
              </a:rPr>
              <a:t>Multiplication    </a:t>
            </a:r>
            <a:endParaRPr sz="1850" dirty="0">
              <a:solidFill>
                <a:srgbClr val="FFD966"/>
              </a:solidFill>
            </a:endParaRPr>
          </a:p>
          <a:p>
            <a:pPr marL="457200" lvl="0" indent="-3460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D966"/>
              </a:buClr>
              <a:buSzPts val="1850"/>
              <a:buAutoNum type="arabicPeriod"/>
            </a:pPr>
            <a:r>
              <a:rPr lang="pl" sz="1850" dirty="0">
                <a:solidFill>
                  <a:srgbClr val="FFD966"/>
                </a:solidFill>
              </a:rPr>
              <a:t>Division           </a:t>
            </a:r>
            <a:endParaRPr sz="1850" dirty="0">
              <a:solidFill>
                <a:srgbClr val="FFD966"/>
              </a:solidFill>
            </a:endParaRPr>
          </a:p>
          <a:p>
            <a:pPr marL="457200" lvl="0" indent="-3460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D966"/>
              </a:buClr>
              <a:buSzPts val="1850"/>
              <a:buAutoNum type="arabicPeriod"/>
            </a:pPr>
            <a:r>
              <a:rPr lang="pl" sz="1850" dirty="0">
                <a:solidFill>
                  <a:srgbClr val="FFD966"/>
                </a:solidFill>
              </a:rPr>
              <a:t>Exponentiation </a:t>
            </a:r>
            <a:endParaRPr sz="1850" dirty="0">
              <a:solidFill>
                <a:srgbClr val="FFD966"/>
              </a:solidFill>
            </a:endParaRPr>
          </a:p>
          <a:p>
            <a:pPr marL="457200" lvl="0" indent="-3460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D966"/>
              </a:buClr>
              <a:buSzPts val="1850"/>
              <a:buAutoNum type="arabicPeriod"/>
            </a:pPr>
            <a:r>
              <a:rPr lang="pl" sz="1850" dirty="0">
                <a:solidFill>
                  <a:srgbClr val="FFD966"/>
                </a:solidFill>
              </a:rPr>
              <a:t>Root </a:t>
            </a:r>
            <a:endParaRPr sz="1850" dirty="0">
              <a:solidFill>
                <a:srgbClr val="FFD966"/>
              </a:solidFill>
            </a:endParaRPr>
          </a:p>
          <a:p>
            <a:pPr marL="457200" lvl="0" indent="-3460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D966"/>
              </a:buClr>
              <a:buSzPts val="1850"/>
              <a:buAutoNum type="arabicPeriod"/>
            </a:pPr>
            <a:r>
              <a:rPr lang="pl" sz="1850" dirty="0">
                <a:solidFill>
                  <a:srgbClr val="FFD966"/>
                </a:solidFill>
              </a:rPr>
              <a:t>Pi constant </a:t>
            </a:r>
            <a:endParaRPr sz="1850" dirty="0">
              <a:solidFill>
                <a:srgbClr val="FFD966"/>
              </a:solidFill>
            </a:endParaRPr>
          </a:p>
          <a:p>
            <a:pPr marL="457200" lvl="0" indent="-3460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D966"/>
              </a:buClr>
              <a:buSzPts val="1850"/>
              <a:buAutoNum type="arabicPeriod"/>
            </a:pPr>
            <a:r>
              <a:rPr lang="pl" sz="1850" dirty="0">
                <a:solidFill>
                  <a:srgbClr val="FFD966"/>
                </a:solidFill>
              </a:rPr>
              <a:t>Euler's number </a:t>
            </a:r>
            <a:endParaRPr sz="1850" dirty="0">
              <a:solidFill>
                <a:srgbClr val="FFD966"/>
              </a:solidFill>
            </a:endParaRPr>
          </a:p>
          <a:p>
            <a:pPr marL="457200" lvl="0" indent="-3460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D966"/>
              </a:buClr>
              <a:buSzPts val="1850"/>
              <a:buAutoNum type="arabicPeriod"/>
            </a:pPr>
            <a:r>
              <a:rPr lang="pl" sz="1850" dirty="0">
                <a:solidFill>
                  <a:srgbClr val="FFD966"/>
                </a:solidFill>
              </a:rPr>
              <a:t>Sine </a:t>
            </a:r>
            <a:endParaRPr sz="1850" dirty="0">
              <a:solidFill>
                <a:srgbClr val="FFD966"/>
              </a:solidFill>
            </a:endParaRPr>
          </a:p>
          <a:p>
            <a:pPr marL="457200" lvl="0" indent="-3460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D966"/>
              </a:buClr>
              <a:buSzPts val="1850"/>
              <a:buAutoNum type="arabicPeriod"/>
            </a:pPr>
            <a:r>
              <a:rPr lang="pl" sz="1850" dirty="0">
                <a:solidFill>
                  <a:srgbClr val="FFD966"/>
                </a:solidFill>
              </a:rPr>
              <a:t>Cosine </a:t>
            </a:r>
            <a:endParaRPr sz="1850" dirty="0">
              <a:solidFill>
                <a:srgbClr val="FFD966"/>
              </a:solidFill>
            </a:endParaRPr>
          </a:p>
          <a:p>
            <a:pPr marL="457200" lvl="0" indent="-3460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D966"/>
              </a:buClr>
              <a:buSzPts val="1850"/>
              <a:buAutoNum type="arabicPeriod"/>
            </a:pPr>
            <a:r>
              <a:rPr lang="pl" sz="1850" dirty="0">
                <a:solidFill>
                  <a:srgbClr val="FFD966"/>
                </a:solidFill>
              </a:rPr>
              <a:t>Tangent </a:t>
            </a:r>
            <a:endParaRPr sz="1850" dirty="0">
              <a:solidFill>
                <a:srgbClr val="FFD966"/>
              </a:solidFill>
            </a:endParaRPr>
          </a:p>
          <a:p>
            <a:pPr marL="457200" lvl="0" indent="-3460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D966"/>
              </a:buClr>
              <a:buSzPts val="1850"/>
              <a:buAutoNum type="arabicPeriod"/>
            </a:pPr>
            <a:r>
              <a:rPr lang="pl" sz="1850" dirty="0">
                <a:solidFill>
                  <a:srgbClr val="FFD966"/>
                </a:solidFill>
              </a:rPr>
              <a:t>Cotangent </a:t>
            </a:r>
            <a:endParaRPr sz="1850" dirty="0">
              <a:solidFill>
                <a:srgbClr val="FFD966"/>
              </a:solidFill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4014400" y="198875"/>
            <a:ext cx="3114000" cy="61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 b="1">
                <a:solidFill>
                  <a:srgbClr val="FFFFFF"/>
                </a:solidFill>
              </a:rPr>
              <a:t>FUNCTIONALITY</a:t>
            </a:r>
            <a:endParaRPr sz="22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/>
        </p:nvSpPr>
        <p:spPr>
          <a:xfrm>
            <a:off x="5161350" y="174525"/>
            <a:ext cx="3777600" cy="7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 b="1">
                <a:solidFill>
                  <a:srgbClr val="FFFFFF"/>
                </a:solidFill>
              </a:rPr>
              <a:t>Console </a:t>
            </a:r>
            <a:endParaRPr sz="2200" b="1">
              <a:solidFill>
                <a:srgbClr val="FFFFFF"/>
              </a:solidFill>
            </a:endParaRPr>
          </a:p>
        </p:txBody>
      </p:sp>
      <p:pic>
        <p:nvPicPr>
          <p:cNvPr id="61" name="Google Shape;61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01601" y="939237"/>
            <a:ext cx="3559750" cy="352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/>
        </p:nvSpPr>
        <p:spPr>
          <a:xfrm>
            <a:off x="4973600" y="192025"/>
            <a:ext cx="2373600" cy="77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 b="1">
                <a:solidFill>
                  <a:srgbClr val="FFFFFF"/>
                </a:solidFill>
              </a:rPr>
              <a:t>ADDITION</a:t>
            </a:r>
            <a:endParaRPr sz="2200" b="1">
              <a:solidFill>
                <a:srgbClr val="FFFFFF"/>
              </a:solidFill>
            </a:endParaRPr>
          </a:p>
        </p:txBody>
      </p:sp>
      <p:pic>
        <p:nvPicPr>
          <p:cNvPr id="67" name="Google Shape;67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3600" y="962125"/>
            <a:ext cx="2719025" cy="2693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588" y="3655200"/>
            <a:ext cx="6655901" cy="25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4271550" y="202350"/>
            <a:ext cx="2919300" cy="8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 b="1">
                <a:solidFill>
                  <a:srgbClr val="FFFFFF"/>
                </a:solidFill>
              </a:rPr>
              <a:t>SUBTRACTION</a:t>
            </a:r>
            <a:endParaRPr sz="2200" b="1">
              <a:solidFill>
                <a:srgbClr val="FFFFFF"/>
              </a:solidFill>
            </a:endParaRPr>
          </a:p>
        </p:txBody>
      </p:sp>
      <p:pic>
        <p:nvPicPr>
          <p:cNvPr id="74" name="Google Shape;74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654327"/>
            <a:ext cx="2993425" cy="2964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3619177"/>
            <a:ext cx="6105525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/>
        </p:nvSpPr>
        <p:spPr>
          <a:xfrm>
            <a:off x="3937950" y="193850"/>
            <a:ext cx="2769900" cy="61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 b="1">
                <a:solidFill>
                  <a:srgbClr val="FFFFFF"/>
                </a:solidFill>
              </a:rPr>
              <a:t>MULTIPLICATION</a:t>
            </a:r>
            <a:endParaRPr sz="2200" b="1">
              <a:solidFill>
                <a:srgbClr val="FFFFFF"/>
              </a:solidFill>
            </a:endParaRPr>
          </a:p>
        </p:txBody>
      </p:sp>
      <p:pic>
        <p:nvPicPr>
          <p:cNvPr id="81" name="Google Shape;81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5500" y="805550"/>
            <a:ext cx="2803050" cy="2776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5500" y="3581850"/>
            <a:ext cx="5920649" cy="2032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/>
        </p:nvSpPr>
        <p:spPr>
          <a:xfrm>
            <a:off x="5050050" y="183425"/>
            <a:ext cx="2933100" cy="4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 b="1">
                <a:solidFill>
                  <a:srgbClr val="FFFFFF"/>
                </a:solidFill>
              </a:rPr>
              <a:t>DIVISION</a:t>
            </a:r>
            <a:endParaRPr sz="2200" b="1">
              <a:solidFill>
                <a:srgbClr val="FFFFFF"/>
              </a:solidFill>
            </a:endParaRPr>
          </a:p>
        </p:txBody>
      </p:sp>
      <p:pic>
        <p:nvPicPr>
          <p:cNvPr id="88" name="Google Shape;88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832925"/>
            <a:ext cx="2851475" cy="295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3791325"/>
            <a:ext cx="6315075" cy="885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3809375" y="197650"/>
            <a:ext cx="3892500" cy="7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 b="1">
                <a:solidFill>
                  <a:srgbClr val="FFFFFF"/>
                </a:solidFill>
              </a:rPr>
              <a:t>EXPONENTIATION</a:t>
            </a:r>
            <a:endParaRPr sz="2200" b="1">
              <a:solidFill>
                <a:srgbClr val="FFFFFF"/>
              </a:solidFill>
            </a:endParaRPr>
          </a:p>
        </p:txBody>
      </p:sp>
      <p:pic>
        <p:nvPicPr>
          <p:cNvPr id="95" name="Google Shape;95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13575" y="2044250"/>
            <a:ext cx="3605382" cy="250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500" y="670292"/>
            <a:ext cx="4419600" cy="44453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/>
        </p:nvSpPr>
        <p:spPr>
          <a:xfrm>
            <a:off x="5289325" y="188450"/>
            <a:ext cx="2210400" cy="6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 b="1">
                <a:solidFill>
                  <a:srgbClr val="FFFFFF"/>
                </a:solidFill>
              </a:rPr>
              <a:t>ROOT</a:t>
            </a:r>
            <a:endParaRPr sz="2200" b="1">
              <a:solidFill>
                <a:srgbClr val="FFFFFF"/>
              </a:solidFill>
            </a:endParaRPr>
          </a:p>
        </p:txBody>
      </p:sp>
      <p:pic>
        <p:nvPicPr>
          <p:cNvPr id="102" name="Google Shape;10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375" y="2412650"/>
            <a:ext cx="3843500" cy="25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0373" y="666823"/>
            <a:ext cx="7171776" cy="1745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1"/>
          <p:cNvSpPr txBox="1"/>
          <p:nvPr/>
        </p:nvSpPr>
        <p:spPr>
          <a:xfrm>
            <a:off x="4421025" y="186900"/>
            <a:ext cx="2982000" cy="80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 b="1">
                <a:solidFill>
                  <a:srgbClr val="FFFFFF"/>
                </a:solidFill>
              </a:rPr>
              <a:t>PI CONSTANT</a:t>
            </a:r>
            <a:endParaRPr sz="2200" b="1">
              <a:solidFill>
                <a:srgbClr val="FFFFFF"/>
              </a:solidFill>
            </a:endParaRPr>
          </a:p>
        </p:txBody>
      </p:sp>
      <p:pic>
        <p:nvPicPr>
          <p:cNvPr id="109" name="Google Shape;109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5450" y="818200"/>
            <a:ext cx="3676650" cy="2400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25450" y="3218500"/>
            <a:ext cx="4960951" cy="1431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2"/>
          <p:cNvSpPr txBox="1"/>
          <p:nvPr/>
        </p:nvSpPr>
        <p:spPr>
          <a:xfrm>
            <a:off x="3802425" y="186900"/>
            <a:ext cx="3412800" cy="65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 b="1">
                <a:solidFill>
                  <a:srgbClr val="FFFFFF"/>
                </a:solidFill>
              </a:rPr>
              <a:t>EULER’S NUMBER</a:t>
            </a:r>
            <a:endParaRPr sz="2200" b="1">
              <a:solidFill>
                <a:srgbClr val="FFFFFF"/>
              </a:solidFill>
            </a:endParaRPr>
          </a:p>
        </p:txBody>
      </p:sp>
      <p:pic>
        <p:nvPicPr>
          <p:cNvPr id="116" name="Google Shape;116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9425" y="1136200"/>
            <a:ext cx="3676650" cy="1924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9413" y="3060250"/>
            <a:ext cx="4606771" cy="1625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/>
          <p:cNvSpPr txBox="1"/>
          <p:nvPr/>
        </p:nvSpPr>
        <p:spPr>
          <a:xfrm>
            <a:off x="5571350" y="226675"/>
            <a:ext cx="2867100" cy="5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 b="1">
                <a:solidFill>
                  <a:srgbClr val="FFFFFF"/>
                </a:solidFill>
              </a:rPr>
              <a:t>SINE</a:t>
            </a:r>
            <a:endParaRPr sz="2200" b="1">
              <a:solidFill>
                <a:srgbClr val="FFFFFF"/>
              </a:solidFill>
            </a:endParaRPr>
          </a:p>
        </p:txBody>
      </p:sp>
      <p:pic>
        <p:nvPicPr>
          <p:cNvPr id="123" name="Google Shape;123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425" y="1136925"/>
            <a:ext cx="3705225" cy="194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4425" y="3080025"/>
            <a:ext cx="7345876" cy="1087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/>
        </p:nvSpPr>
        <p:spPr>
          <a:xfrm>
            <a:off x="5178625" y="214700"/>
            <a:ext cx="25857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 b="1">
                <a:solidFill>
                  <a:srgbClr val="FFFFFF"/>
                </a:solidFill>
              </a:rPr>
              <a:t>COSINE</a:t>
            </a:r>
            <a:endParaRPr sz="2200" b="1">
              <a:solidFill>
                <a:srgbClr val="FFFFFF"/>
              </a:solidFill>
            </a:endParaRPr>
          </a:p>
        </p:txBody>
      </p:sp>
      <p:pic>
        <p:nvPicPr>
          <p:cNvPr id="130" name="Google Shape;130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725" y="809000"/>
            <a:ext cx="3705225" cy="194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713" y="2752100"/>
            <a:ext cx="6508601" cy="963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5"/>
          <p:cNvSpPr txBox="1"/>
          <p:nvPr/>
        </p:nvSpPr>
        <p:spPr>
          <a:xfrm>
            <a:off x="4893675" y="195400"/>
            <a:ext cx="2318100" cy="6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 sz="2200" b="1">
                <a:solidFill>
                  <a:srgbClr val="FFFFFF"/>
                </a:solidFill>
              </a:rPr>
              <a:t>TANGENT</a:t>
            </a:r>
            <a:endParaRPr sz="2200" b="1">
              <a:solidFill>
                <a:srgbClr val="FFFFFF"/>
              </a:solidFill>
            </a:endParaRPr>
          </a:p>
        </p:txBody>
      </p:sp>
      <p:pic>
        <p:nvPicPr>
          <p:cNvPr id="137" name="Google Shape;13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9525" y="855700"/>
            <a:ext cx="3705225" cy="194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9537" y="2798800"/>
            <a:ext cx="6257600" cy="926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6"/>
          <p:cNvSpPr txBox="1">
            <a:spLocks noGrp="1"/>
          </p:cNvSpPr>
          <p:nvPr>
            <p:ph type="title"/>
          </p:nvPr>
        </p:nvSpPr>
        <p:spPr>
          <a:xfrm>
            <a:off x="4898750" y="-173875"/>
            <a:ext cx="4079100" cy="578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 b="1">
                <a:solidFill>
                  <a:schemeClr val="lt1"/>
                </a:solidFill>
              </a:rPr>
              <a:t>Cotangent</a:t>
            </a:r>
            <a:endParaRPr sz="2400" b="1">
              <a:solidFill>
                <a:schemeClr val="lt1"/>
              </a:solidFill>
            </a:endParaRPr>
          </a:p>
        </p:txBody>
      </p:sp>
      <p:pic>
        <p:nvPicPr>
          <p:cNvPr id="144" name="Google Shape;14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5050" y="964150"/>
            <a:ext cx="3705225" cy="194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5062" y="2907250"/>
            <a:ext cx="6460050" cy="996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09175" y="3650150"/>
            <a:ext cx="3676650" cy="895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09175" y="424851"/>
            <a:ext cx="3059700" cy="322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>
            <a:spLocks noGrp="1"/>
          </p:cNvSpPr>
          <p:nvPr>
            <p:ph type="title"/>
          </p:nvPr>
        </p:nvSpPr>
        <p:spPr>
          <a:xfrm>
            <a:off x="3153100" y="139000"/>
            <a:ext cx="4586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lt1"/>
                </a:solidFill>
              </a:rPr>
              <a:t>Działanie pod linuxem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157" name="Google Shape;157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2150" y="677425"/>
            <a:ext cx="7970025" cy="511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2150" y="1189149"/>
            <a:ext cx="7627049" cy="511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12150" y="1700875"/>
            <a:ext cx="3293384" cy="297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307225" y="1700875"/>
            <a:ext cx="3076725" cy="3211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</Words>
  <Application>Microsoft Office PowerPoint</Application>
  <PresentationFormat>Pokaz na ekranie (16:9)</PresentationFormat>
  <Paragraphs>28</Paragraphs>
  <Slides>16</Slides>
  <Notes>16</Notes>
  <HiddenSlides>0</HiddenSlides>
  <MMClips>0</MMClips>
  <ScaleCrop>false</ScaleCrop>
  <HeadingPairs>
    <vt:vector size="6" baseType="variant">
      <vt:variant>
        <vt:lpstr>Używane czcionki</vt:lpstr>
      </vt:variant>
      <vt:variant>
        <vt:i4>1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16</vt:i4>
      </vt:variant>
    </vt:vector>
  </HeadingPairs>
  <TitlesOfParts>
    <vt:vector size="18" baseType="lpstr">
      <vt:lpstr>Arial</vt:lpstr>
      <vt:lpstr>Simple Light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 Cotangent</vt:lpstr>
      <vt:lpstr>Prezentacja programu PowerPoint</vt:lpstr>
      <vt:lpstr>Działanie pod linuxem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Patryk Podleżyński</cp:lastModifiedBy>
  <cp:revision>1</cp:revision>
  <dcterms:modified xsi:type="dcterms:W3CDTF">2026-01-10T20:58:06Z</dcterms:modified>
</cp:coreProperties>
</file>